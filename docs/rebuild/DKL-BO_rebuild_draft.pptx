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Deep Kernel Learning for Bayesian Optimization
of 2D Materials (C2DB)</a:t>
            </a:r>
          </a:p>
          <a:p>
            <a:r>
              <a:rPr sz="2400">
                <a:solidFill>
                  <a:srgbClr val="9FBFE6"/>
                </a:solidFill>
              </a:rPr>
              <a:t>Clean Rebuild — Draft Progress Report</a:t>
            </a:r>
          </a:p>
          <a:p>
            <a:r>
              <a:rPr sz="1600" i="1">
                <a:solidFill>
                  <a:srgbClr val="C89616"/>
                </a:solidFill>
              </a:rPr>
              <a:t>Headline focus: Constrained search (Window-MAX &amp; Window-MIN) — where DKL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2120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Akhil  ·  akhillavudya4567@gmail.com</a:t>
            </a:r>
          </a:p>
          <a:p>
            <a:r>
              <a:rPr sz="1500">
                <a:solidFill>
                  <a:srgbClr val="FFFFFF"/>
                </a:solidFill>
              </a:rPr>
              <a:t>2026-06-22</a:t>
            </a:r>
          </a:p>
          <a:p>
            <a:r>
              <a:rPr sz="1500">
                <a:solidFill>
                  <a:srgbClr val="FFFFFF"/>
                </a:solidFill>
              </a:rPr>
              <a:t>Reference templates: Kiyohara &amp; Kumagai 2025 (DKL-BO)  ·  Mamun / Yue 2026 (DGKL / UQ)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MOTIVATION
</a:t>
            </a:r>
            <a:r>
              <a:rPr sz="2500" b="1">
                <a:solidFill>
                  <a:srgbClr val="FFFFFF"/>
                </a:solidFill>
              </a:rPr>
              <a:t>The problem: experiments are expensive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One DFT calculation on a single material costs days of compute.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Goal: discover the rare, high-value 2D materials with the FEWEST experiments.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A cheap surrogate model predicts a property from crystal structure;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Bayesian Optimization (BO) then decides which material to test next.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Simulated oracle: the C2DB database (all band gaps already known).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We hide the labels and reveal them one at a time — exactly like a real lab.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3,351 non-metal 2D materials; band gaps 0.01–10.79 eV; the prize is the rarest ~1.5%.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8B57"/>
                </a:solidFill>
              </a:rPr>
              <a:t>Real-world payoff: reach the same discoveries with far fewer DFT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QUESTION
</a:t>
            </a:r>
            <a:r>
              <a:rPr sz="2500" b="1">
                <a:solidFill>
                  <a:srgbClr val="FFFFFF"/>
                </a:solidFill>
              </a:rPr>
              <a:t>The research question — one grid, three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33855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572000"/>
                <a:gridCol w="3749039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Study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Search tasks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Prediction check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3357"/>
                          </a:solidFill>
                        </a:rPr>
                        <a:t>A. Band gap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3357"/>
                          </a:solidFill>
                        </a:rPr>
                        <a:t>max-gap, min-gap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3357"/>
                          </a:solidFill>
                        </a:rPr>
                        <a:t>gap accuracy: Std-GP vs DKL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3357"/>
                          </a:solidFill>
                        </a:rPr>
                        <a:t>B. Effective mass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3357"/>
                          </a:solidFill>
                        </a:rPr>
                        <a:t>max-emass, min-emass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3357"/>
                          </a:solidFill>
                        </a:rPr>
                        <a:t>emass accuracy: Std-GP vs DKL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3357"/>
                          </a:solidFill>
                        </a:rPr>
                        <a:t>C. Constrained (window)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3357"/>
                          </a:solidFill>
                        </a:rPr>
                        <a:t>highest/lowest gap inside a target band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3357"/>
                          </a:solidFill>
                        </a:rPr>
                        <a:t>gap accuracy in the band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4553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Methods: Random (floor) · Std-GP (43 handcrafted descriptors + GP) · DKL-BO (learned CGCNN encoder + GP). One shared intersection dataset → a fair contest.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BACKGROUND
</a:t>
            </a:r>
            <a:r>
              <a:rPr sz="2500" b="1">
                <a:solidFill>
                  <a:srgbClr val="FFFFFF"/>
                </a:solidFill>
              </a:rPr>
              <a:t>What we build on: the two reference papers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25880"/>
            <a:ext cx="5532120" cy="5029200"/>
          </a:xfrm>
          <a:prstGeom prst="rect">
            <a:avLst/>
          </a:prstGeom>
          <a:solidFill>
            <a:srgbClr val="F2F5F9"/>
          </a:solidFill>
          <a:ln w="3175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01168"/>
          <a:lstStyle/>
          <a:p>
            <a:pPr algn="ctr"/>
            <a:r>
              <a:rPr sz="1700" b="1">
                <a:solidFill>
                  <a:srgbClr val="2E6DB4"/>
                </a:solidFill>
              </a:rPr>
              <a:t>Paper 2 — Kiyohara &amp; Kumagai 2025  (DIRECT TEMPLATE)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DKL = CGCNN + GP (Matérn-5/2), attention pooling → our EXACT architecture.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Compares DKL-BO vs Std-GP vs Random; small n_init = 10.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DKL ~2× more efficient on band gap.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HUGE win on min effective mass: 50 cycles vs Std-GP 371 (~7×).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Std-GP wins only when ONE descriptor strongly tracks the target.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"Even a less accurate model can still find target materials" → SEARCH ≠ ACCURACY.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No validation set inside BO (fit by marginal log-likelihood). We follow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325880"/>
            <a:ext cx="5532120" cy="5029200"/>
          </a:xfrm>
          <a:prstGeom prst="rect">
            <a:avLst/>
          </a:prstGeom>
          <a:solidFill>
            <a:srgbClr val="F2F5F9"/>
          </a:solidFill>
          <a:ln w="317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01168"/>
          <a:lstStyle/>
          <a:p>
            <a:pPr algn="ctr"/>
            <a:r>
              <a:rPr sz="1700" b="1">
                <a:solidFill>
                  <a:srgbClr val="2E8B57"/>
                </a:solidFill>
              </a:rPr>
              <a:t>Paper 1 — Mamun / Yue 2026  (UQ / CALIBRATION)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DGKL = GNN + SVGP, trained end-to-end, for uncertainty quantification.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Focus: calibration (ENCE, coverage ≈ 0.68 / 0.95) and OOD detection.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Tricks: differential learning rates, early stopping on a validation set.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Source of our "DKL can be over-confident → recalibrate" idea.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We borrow: carve a small val FROM TRAIN for encoder pre-training only.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The pool (test set) is never touched for any training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APPROACH
</a:t>
            </a:r>
            <a:r>
              <a:rPr sz="2500" b="1">
                <a:solidFill>
                  <a:srgbClr val="FFFFFF"/>
                </a:solidFill>
              </a:rPr>
              <a:t>Why a clean rebuild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The original project had grown messy: 21 scripts, too many competitors and plots.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Rebuilt from scratch around ONE clean question and a fair design: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Single INTERSECTION dataset — only materials with BOTH a valid gap and a valid emass.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Fresh, plain-Python numbered scripts 01–07 (no hidden configuration magic).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Fairness rule: Std-GP descriptors and DKL graphs cover the EXACT same materials, same order.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Phase by phase, verified at each step before moving on.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Result: a story that is honest, reproducible, and easy to defend.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METHOD
</a:t>
            </a:r>
            <a:r>
              <a:rPr sz="2500" b="1">
                <a:solidFill>
                  <a:srgbClr val="FFFFFF"/>
                </a:solidFill>
              </a:rPr>
              <a:t>Method — the pipeline both chefs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Crystal structure → graph (atoms + bonds).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DKL encoder: CGCNN, 3 conv layers, attention pooling → 32-dim LEARNED fingerprint.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Std-GP instead uses 43 FIXED handcrafted descriptors (the "recipe card").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Gaussian Process head: ExactGP, Matérn-5/2 kernel → predicts mean + uncertainty.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Acquisition: Expected Improvement (or a custom window score) picks the next material.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BO loop: predict → pick most promising → reveal label → retrain → repeat.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The ONLY difference between methods is the features. Everything else is identical → fair.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KEY IDEA
</a:t>
            </a:r>
            <a:r>
              <a:rPr sz="2500" b="1">
                <a:solidFill>
                  <a:srgbClr val="FFFFFF"/>
                </a:solidFill>
              </a:rPr>
              <a:t>The central theme: SEARCH ≠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A good TASTER (accurate predictions) is not the same as a good HUNTER (finds rare gems).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BO does not need a globally accurate model — it needs a model that RANKS the right region highest.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DKL's superpower: it can RESHAPE its 32-dim feature space to make the target region stand out.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Std-GP's descriptors are frozen — it cannot re-focus, no matter how much data arrives.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This single idea explains every result that follows — especially the window experiments.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8B57"/>
                </a:solidFill>
              </a:rPr>
              <a:t>Paper 2 proved this with effective mass; our rebuild reproduces and extends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9FBFE6"/>
                </a:solidFill>
              </a:rPr>
              <a:t>PHASE 1</a:t>
            </a:r>
          </a:p>
          <a:p>
            <a:r>
              <a:rPr sz="4000" b="1">
                <a:solidFill>
                  <a:srgbClr val="FFFFFF"/>
                </a:solidFill>
              </a:rPr>
              <a:t>Build one clean dataset</a:t>
            </a:r>
          </a:p>
          <a:p>
            <a:r>
              <a:rPr sz="2000" i="1">
                <a:solidFill>
                  <a:srgbClr val="C8D6EC"/>
                </a:solidFill>
              </a:rPr>
              <a:t>The fair kitchen both chefs cook 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PHASE 1 · DATA
</a:t>
            </a:r>
            <a:r>
              <a:rPr sz="2500" b="1">
                <a:solidFill>
                  <a:srgbClr val="FFFFFF"/>
                </a:solidFill>
              </a:rPr>
              <a:t>Phase 1 —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Intersection dataset: 2,667 materials with BOTH a band gap and an effective mass.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Split: train = 1,901  /  pool (held-out test) = 766.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Prototype-aware + gap-quartile stratified, seed = 42 (no crystal family leaks across the split).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Graphs reused from the existing structure cache (identical hash) — not rebuilt.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Built 2,667 × 43 handcrafted descriptors for Std-GP, aligned to the same order.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Pool contains targets for all search directions (high/low gap, high/low emass, in-window).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Fairness verified: descriptors and graphs cover the identical materials. 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8B57"/>
                </a:solidFill>
              </a:rPr>
              <a:t>Outputs: master.parquet, descriptors.parquet, one shared split.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9FBFE6"/>
                </a:solidFill>
              </a:rPr>
              <a:t>PHASE 2</a:t>
            </a:r>
          </a:p>
          <a:p>
            <a:r>
              <a:rPr sz="4000" b="1">
                <a:solidFill>
                  <a:srgbClr val="FFFFFF"/>
                </a:solidFill>
              </a:rPr>
              <a:t>Can the chefs predict?</a:t>
            </a:r>
          </a:p>
          <a:p>
            <a:r>
              <a:rPr sz="2000" i="1">
                <a:solidFill>
                  <a:srgbClr val="C8D6EC"/>
                </a:solidFill>
              </a:rPr>
              <a:t>The tasting exam — accuracy on the held-out pool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PHASE 2 · PREDICT
</a:t>
            </a:r>
            <a:r>
              <a:rPr sz="2500" b="1">
                <a:solidFill>
                  <a:srgbClr val="FFFFFF"/>
                </a:solidFill>
              </a:rPr>
              <a:t>Phase 2 — Prediction accuracy (held-out pool, 766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True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GAP: Std-GP R² 0.60 ≈ DKL 0.55.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•  Descriptors already encode gap chemistry well → little headroom.</a:t>
            </a:r>
          </a:p>
          <a:p>
            <a:pPr lvl="True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EMASS: both R² ≈ 0 on raw scale (heavy-tailed, 5 orders of magnitude).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•  log10(emass) helps BOTH; DKL edges Std-GP in log space.</a:t>
            </a:r>
          </a:p>
          <a:p>
            <a:pPr lvl="True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Punchline: a good taster is not automatically a good hunter.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</a:rPr>
              <a:t>•  Paper 2's biggest DKL win (min-emass) came DESPITE poor R².</a:t>
            </a:r>
          </a:p>
        </p:txBody>
      </p:sp>
      <p:pic>
        <p:nvPicPr>
          <p:cNvPr id="4" name="Picture 3" descr="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88993"/>
            <a:ext cx="6400800" cy="36286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6172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MAE / RMSE / R² on the pool — Std-GP vs DKL.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9FBFE6"/>
                </a:solidFill>
              </a:rPr>
              <a:t>PHASE 3</a:t>
            </a:r>
          </a:p>
          <a:p>
            <a:r>
              <a:rPr sz="4000" b="1">
                <a:solidFill>
                  <a:srgbClr val="FFFFFF"/>
                </a:solidFill>
              </a:rPr>
              <a:t>The BO contest</a:t>
            </a:r>
          </a:p>
          <a:p>
            <a:r>
              <a:rPr sz="2000" i="1">
                <a:solidFill>
                  <a:srgbClr val="C8D6EC"/>
                </a:solidFill>
              </a:rPr>
              <a:t>Who hunts best, given only 110 experiments?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PHASE 3 · SEARCH
</a:t>
            </a:r>
            <a:r>
              <a:rPr sz="2500" b="1">
                <a:solidFill>
                  <a:srgbClr val="FFFFFF"/>
                </a:solidFill>
              </a:rPr>
              <a:t>Phase 3 — BO contest results (means: best / top-50 / top-10%)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338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51760"/>
                <a:gridCol w="2651760"/>
                <a:gridCol w="2377440"/>
                <a:gridCol w="17373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Std-GP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DKL (frozen)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Random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 (honest)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357"/>
                          </a:solidFill>
                        </a:rPr>
                        <a:t>gap_max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8.68 / 22.0 / 29.8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8.57 / 31.5 / 42.7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7.50 / 6.8 / 10.0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DKL wins breadth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357"/>
                          </a:solidFill>
                        </a:rPr>
                        <a:t>gap_min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0.022 / 19.4 / 28.7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0.023 / 19.8 / 27.1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0.072 / 6.4 / 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tie (both ≫ random)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357"/>
                          </a:solidFill>
                        </a:rPr>
                        <a:t>emass_min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-1.97 / 15.9 / 21.2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-1.74 / 15.7 / 21.0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-1.42 / 7.2 / 10.4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tie / slight DKL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357"/>
                          </a:solidFill>
                        </a:rPr>
                        <a:t>emass_max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1.66 / 14.6 / 19.5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1.50 / 13.3 / 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1.47 / 6.3 / 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Std-GP edges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Setup: Expected Improvement, 10 init + 100 cycles on the 766-material pool, averaged over seeds. Format = best single / top-50 hits / top-10% hits.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PHASE 3 · gap_max
</a:t>
            </a:r>
            <a:r>
              <a:rPr sz="2500" b="1">
                <a:solidFill>
                  <a:srgbClr val="FFFFFF"/>
                </a:solidFill>
              </a:rPr>
              <a:t>Phase 3 — gap_max: DKL's first clear win (discovery breadth)</a:t>
            </a:r>
          </a:p>
        </p:txBody>
      </p:sp>
      <p:pic>
        <p:nvPicPr>
          <p:cNvPr id="3" name="Picture 2" descr="gap_max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15861"/>
            <a:ext cx="5592927" cy="2026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5592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Cumulative rare materials found over cycles</a:t>
            </a:r>
          </a:p>
        </p:txBody>
      </p:sp>
      <p:pic>
        <p:nvPicPr>
          <p:cNvPr id="5" name="Picture 4" descr="gap_max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552444"/>
            <a:ext cx="5592927" cy="1753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33007" y="5577840"/>
            <a:ext cx="5592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Final tallies: best / top-50 / top-10%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DKL finds ~42.7 of the top-10% vs Std-GP ~29.8 — it HARVESTS MANY rare high-gap materials.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9FBFE6"/>
                </a:solidFill>
              </a:rPr>
              <a:t>PHASE 4</a:t>
            </a:r>
          </a:p>
          <a:p>
            <a:r>
              <a:rPr sz="4000" b="1">
                <a:solidFill>
                  <a:srgbClr val="FFFFFF"/>
                </a:solidFill>
              </a:rPr>
              <a:t>The chef who keeps learning</a:t>
            </a:r>
          </a:p>
          <a:p>
            <a:r>
              <a:rPr sz="2000" i="1">
                <a:solidFill>
                  <a:srgbClr val="C8D6EC"/>
                </a:solidFill>
              </a:rPr>
              <a:t>Frozen vs fine-tuned vs cold (no pre-training)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PHASE 4 · FINE-TUNE
</a:t>
            </a:r>
            <a:r>
              <a:rPr sz="2500" b="1">
                <a:solidFill>
                  <a:srgbClr val="FFFFFF"/>
                </a:solidFill>
              </a:rPr>
              <a:t>Phase 4 — Live fine-tuning + cold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Frozen (Phase 3): learn once from 1,901 materials, then LOCK the encoder.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Fine-tuned: start from the same encoder, re-train it every few digs DURING the hunt.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Cold + live: random encoder trained from scratch during the hunt (exact Paper-2 setup).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The clean trade-off we discovered: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1F3357"/>
                </a:solidFill>
              </a:rPr>
              <a:t>–  FROZEN  →  best discovery breadth (most rare materials).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1F3357"/>
                </a:solidFill>
              </a:rPr>
              <a:t>–  FINE-TUNE  →  best at a specific target (single champion / a constrained band) — see windows.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1F3357"/>
                </a:solidFill>
              </a:rPr>
              <a:t>–  COLD collapses on gap (barely beats random)  →  PRE-TRAINING IS ESSENTIAL.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Fine-tuning is exactly the setup that won Paper-2's effective-mass result.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9FBFE6"/>
                </a:solidFill>
              </a:rPr>
              <a:t>PHASE 5</a:t>
            </a:r>
          </a:p>
          <a:p>
            <a:r>
              <a:rPr sz="4000" b="1">
                <a:solidFill>
                  <a:srgbClr val="FFFFFF"/>
                </a:solidFill>
              </a:rPr>
              <a:t>Which wins are REAL?</a:t>
            </a:r>
          </a:p>
          <a:p>
            <a:r>
              <a:rPr sz="2000" i="1">
                <a:solidFill>
                  <a:srgbClr val="C8D6EC"/>
                </a:solidFill>
              </a:rPr>
              <a:t>Paired statistics — separating signal from luck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PHASE 5 · STATS
</a:t>
            </a:r>
            <a:r>
              <a:rPr sz="2500" b="1">
                <a:solidFill>
                  <a:srgbClr val="FFFFFF"/>
                </a:solidFill>
              </a:rPr>
              <a:t>Phase 5 — Statistical significance (paired Wilcoxon vs Std-GP)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Averages can lie — one lucky starter set can tip a 10-run mean.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Paired test: every seed gives ALL methods the SAME starter materials → we compare matched pairs.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SIGNIFICANT results (p &lt; 0.05):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1F3357"/>
                </a:solidFill>
              </a:rPr>
              <a:t>–  gap_max: DKL-frozen beats Std-GP on top-10% (p = 0.002) and top-50 (p = 0.002).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1F3357"/>
                </a:solidFill>
              </a:rPr>
              <a:t>–  Cold-live LOSES on gap (p ≈ 0.03) → pre-training is necessary, not optional.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gap_min and both raw emass tasks are statistically TIED at this sample size.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This motivated the WINDOW experiments — constrained search is where DKL's edge becomes decisive.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PHASE 6 · 30 SEEDS
</a:t>
            </a:r>
            <a:r>
              <a:rPr sz="2500" b="1">
                <a:solidFill>
                  <a:srgbClr val="FFFFFF"/>
                </a:solidFill>
              </a:rPr>
              <a:t>Phase 6 — Re-run on 30 seeds (more trustworthy)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33856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237744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Task / metric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Std-GP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DKL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Significance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3357"/>
                          </a:solidFill>
                        </a:rPr>
                        <a:t>gap_max  top-10%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29.8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42.7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DKL wins, p ≈ 0.000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3357"/>
                          </a:solidFill>
                        </a:rPr>
                        <a:t>gap_max  top-50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22.0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31.5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DKL 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F3357"/>
                          </a:solidFill>
                        </a:rPr>
                        <a:t>gap_min / emass tasks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3357"/>
                          </a:solidFill>
                        </a:rPr>
                        <a:t>ties hold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4553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More seeds shrink the error bars: the gap_max conclusion only gets stronger; ties stay 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89616"/>
                </a:solidFill>
              </a:rPr>
              <a:t>MAIN RESULT</a:t>
            </a:r>
          </a:p>
          <a:p>
            <a:r>
              <a:rPr sz="4000" b="1">
                <a:solidFill>
                  <a:srgbClr val="FFFFFF"/>
                </a:solidFill>
              </a:rPr>
              <a:t>Constrained optimisation</a:t>
            </a:r>
          </a:p>
          <a:p>
            <a:r>
              <a:rPr sz="2000" i="1">
                <a:solidFill>
                  <a:srgbClr val="C8D6EC"/>
                </a:solidFill>
              </a:rPr>
              <a:t>Window-MAX &amp; Window-MIN — the realistic objective, and where DKL wins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WINDOW · CONCEPT
</a:t>
            </a:r>
            <a:r>
              <a:rPr sz="2500" b="1">
                <a:solidFill>
                  <a:srgbClr val="FFFFFF"/>
                </a:solidFill>
              </a:rPr>
              <a:t>Why constrained search? (the realistic objective)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Real materials design almost never wants "the biggest number".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It wants the best material that still OBEYS A RULE — fits a device, a voltage, a colour, a stability limit.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So we put the target inside a BOX with a hard boundary: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1F3357"/>
                </a:solidFill>
              </a:rPr>
              <a:t>–  Window-MAX: find the HIGHEST band gap that stays at or BELOW a 3.0 eV ceiling.</a:t>
            </a:r>
          </a:p>
          <a:p>
            <a:pPr lvl="1">
              <a:spcAft>
                <a:spcPts val="600"/>
              </a:spcAft>
            </a:pPr>
            <a:r>
              <a:rPr sz="1700" b="1">
                <a:solidFill>
                  <a:srgbClr val="1F3357"/>
                </a:solidFill>
              </a:rPr>
              <a:t>–  Window-MIN: find the LOWEST band gap that stays at or ABOVE a 0.7 eV floor.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Anything outside the box is REJECTED — it scores zero, no matter how extreme.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The perfect find sits just inside the boundary (≈ 2.997 eV for MAX, ≈ 0.700 eV for MIN).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8B57"/>
                </a:solidFill>
              </a:rPr>
              <a:t>This is harder than plain max/min: the model must respect a boundary, not just chase an extreme.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WINDOW · METHOD
</a:t>
            </a:r>
            <a:r>
              <a:rPr sz="2500" b="1">
                <a:solidFill>
                  <a:srgbClr val="FFFFFF"/>
                </a:solidFill>
              </a:rPr>
              <a:t>How we score it — the acquisition that respects the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We reward expected gap ONLY for the part of the posterior that lands inside the box.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Window-MAX score = E[ gap · 1{lo ≤ gap ≤ hi} ]  =  μ(Φ(βʰ) − Φ(αˡ)) − σ(φ(βʰ) − φ(αˡ)).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It prefers a high gap inside the band, and discounts probability mass that spills past the ceiling.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As the model grows certain (σ → 0), it picks exactly the true highest in-window material.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Window-MIN is the mirror image: reward (3.0 − gap) for the part above the 0.7 floor.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Both share the GP, the pool, the seeds, and the cycle budget — only the FEATURES differ.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8B57"/>
                </a:solidFill>
              </a:rPr>
              <a:t>Implemented in src/dklbo/bo/acquisition.py:window_max / window_min.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WINDOW · METRICS
</a:t>
            </a:r>
            <a:r>
              <a:rPr sz="2500" b="1">
                <a:solidFill>
                  <a:srgbClr val="FFFFFF"/>
                </a:solidFill>
              </a:rPr>
              <a:t>What we measure (post-init, so the lucky starter set cancels 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best_inwin_gap — the single best in-window material found (closest to the boundary).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For MAX: higher = better (nearest 3.0 from below). For MIN: lower = better (nearest 0.7 from above).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cumul_top50 — how MANY of the top-50 in-window materials were dug up (discovery breadth).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Crossover cycle — the cycle at which DKL's running mean overtakes Std-GP and stays ahead.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4 contestants: Std-GP · DKL-frozen · DKL-finetune · Random. 30 seeds × 100 cycles.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89616"/>
                </a:solidFill>
              </a:rPr>
              <a:t>WINDOW-MAX</a:t>
            </a:r>
          </a:p>
          <a:p>
            <a:r>
              <a:rPr sz="4000" b="1">
                <a:solidFill>
                  <a:srgbClr val="FFFFFF"/>
                </a:solidFill>
              </a:rPr>
              <a:t>Highest gap UNDER a 3.0 eV ceiling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WINDOW-MAX · RESULTS
</a:t>
            </a:r>
            <a:r>
              <a:rPr sz="2500" b="1">
                <a:solidFill>
                  <a:srgbClr val="FFFFFF"/>
                </a:solidFill>
              </a:rPr>
              <a:t>Window-MAX — results (30 seeds, mean; ✓ = significant vs Std-GP)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8872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2468880"/>
                <a:gridCol w="274320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Std-GP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DKL-frozen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DKL-finetune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Random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357"/>
                          </a:solidFill>
                        </a:rPr>
                        <a:t>best_inwin_gap (↑)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2.957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2.917  (p=.029)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2.950  (tie, p=.078)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2.948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357"/>
                          </a:solidFill>
                        </a:rPr>
                        <a:t>cumul_top50 (↑)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8.33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7.43  (tie, p=.28)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11.63  ✓ +3.30, p=.0005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6.97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357"/>
                          </a:solidFill>
                        </a:rPr>
                        <a:t>crossover cycle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never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cycle 37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4553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Std-GP edges the very TOP single material; but DKL-FINETUNE decisively wins the BREADTH (top-50): 11.6 vs 8.3, p = 0.0005, overtaking from cycle 37 onward.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WINDOW-MAX · PLOTS
</a:t>
            </a:r>
            <a:r>
              <a:rPr sz="2500" b="1">
                <a:solidFill>
                  <a:srgbClr val="FFFFFF"/>
                </a:solidFill>
              </a:rPr>
              <a:t>Window-MAX — DKL-finetune dominates the top-50</a:t>
            </a:r>
          </a:p>
        </p:txBody>
      </p:sp>
      <p:pic>
        <p:nvPicPr>
          <p:cNvPr id="3" name="Picture 2" descr="winmax_top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8730"/>
            <a:ext cx="5592927" cy="3580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5592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top-50 in-window hits over cycles</a:t>
            </a:r>
          </a:p>
        </p:txBody>
      </p:sp>
      <p:pic>
        <p:nvPicPr>
          <p:cNvPr id="5" name="Picture 4" descr="winmax_cross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101307"/>
            <a:ext cx="5592927" cy="26553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33007" y="5577840"/>
            <a:ext cx="5592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DKL mean overtakes Std-GP (cycle 37)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Std-GP pins the single closest-to-ceiling material, but cannot harvest the band; DKL-finetune does.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89616"/>
                </a:solidFill>
              </a:rPr>
              <a:t>WINDOW-MIN</a:t>
            </a:r>
          </a:p>
          <a:p>
            <a:r>
              <a:rPr sz="4000" b="1">
                <a:solidFill>
                  <a:srgbClr val="FFFFFF"/>
                </a:solidFill>
              </a:rPr>
              <a:t>Lowest gap ABOVE a 0.7 eV floor</a:t>
            </a:r>
          </a:p>
          <a:p>
            <a:r>
              <a:rPr sz="2000" i="1">
                <a:solidFill>
                  <a:srgbClr val="C8D6EC"/>
                </a:solidFill>
              </a:rPr>
              <a:t>DKL's strongest, cleanest win of the whole project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WINDOW-MIN · RESULTS
</a:t>
            </a:r>
            <a:r>
              <a:rPr sz="2500" b="1">
                <a:solidFill>
                  <a:srgbClr val="FFFFFF"/>
                </a:solidFill>
              </a:rPr>
              <a:t>Window-MIN — results (30 seeds, mean; ✓ = significant vs Std-GP)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8872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920240"/>
                <a:gridCol w="2468880"/>
                <a:gridCol w="265176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Std-GP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DKL-frozen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DKL-finetune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Random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357"/>
                          </a:solidFill>
                        </a:rPr>
                        <a:t>best_inwin_gap (↓ better)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0.739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0.718  ✓ p=.031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0.710  ✓ p=.002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0.730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357"/>
                          </a:solidFill>
                        </a:rPr>
                        <a:t>cumul_top50 (↑)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9.93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12.40  ✓ +2.47, p=.016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16.13  ✓ +6.20, p=2e-5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357"/>
                          </a:solidFill>
                        </a:rPr>
                        <a:t>6.37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3357"/>
                          </a:solidFill>
                        </a:rPr>
                        <a:t>crossover cycle (top50)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cycle 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cycle 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335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45536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DKL wins EVERYTHING: closest to the floor AND the most in-window materials — both frozen and fine-tuned, all statistically significant. DKL-finetune finds 16.1 vs 9.9 of the top-50 (p = 2×10⁻⁵).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WINDOW-MIN · PLOTS
</a:t>
            </a:r>
            <a:r>
              <a:rPr sz="2500" b="1">
                <a:solidFill>
                  <a:srgbClr val="FFFFFF"/>
                </a:solidFill>
              </a:rPr>
              <a:t>Window-MIN — DKL wins on every metric, from early cycles</a:t>
            </a:r>
          </a:p>
        </p:txBody>
      </p:sp>
      <p:pic>
        <p:nvPicPr>
          <p:cNvPr id="3" name="Picture 2" descr="winmin_top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8730"/>
            <a:ext cx="5592927" cy="3580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77840"/>
            <a:ext cx="5592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top-50 in-window hits over cycles</a:t>
            </a:r>
          </a:p>
        </p:txBody>
      </p:sp>
      <p:pic>
        <p:nvPicPr>
          <p:cNvPr id="5" name="Picture 4" descr="winmin_cross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101307"/>
            <a:ext cx="5592927" cy="26553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33007" y="5577840"/>
            <a:ext cx="5592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DKL overtakes Std-GP by cycle 6–8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The low-gap band is exactly where DKL's learned features separate materials better than descriptors.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3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89616"/>
                </a:solidFill>
              </a:rPr>
              <a:t>WHY</a:t>
            </a:r>
          </a:p>
          <a:p>
            <a:r>
              <a:rPr sz="4000" b="1">
                <a:solidFill>
                  <a:srgbClr val="FFFFFF"/>
                </a:solidFill>
              </a:rPr>
              <a:t>Why DKL wins the window tasks</a:t>
            </a:r>
          </a:p>
          <a:p>
            <a:r>
              <a:rPr sz="2000" i="1">
                <a:solidFill>
                  <a:srgbClr val="C8D6EC"/>
                </a:solidFill>
              </a:rPr>
              <a:t>The mechanism, in detail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WHY · MECHANISM
</a:t>
            </a:r>
            <a:r>
              <a:rPr sz="2500" b="1">
                <a:solidFill>
                  <a:srgbClr val="FFFFFF"/>
                </a:solidFill>
              </a:rPr>
              <a:t>Why DKL wins constrained search —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357"/>
                </a:solidFill>
              </a:rPr>
              <a:t>•  1.  The target is a REGION, not a single extreme.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A window rewards a whole BAND of materials; success = covering that band, not just one point.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357"/>
                </a:solidFill>
              </a:rPr>
              <a:t>•  2.  DKL can RESHAPE its features around that band; Std-GP cannot.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Fine-tuning re-trains the 32-dim encoder every few digs, pulling the in-window materials it has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found into a tight cluster → the GP then confidently flags their unseen neighbours.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Std-GP's 43 descriptors are FIXED forever → it can never re-focus on the constrained band.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357"/>
                </a:solidFill>
              </a:rPr>
              <a:t>•  3.  That is why the two windows split the way they do: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Std-GP can still pin the SINGLE closest-to-ceiling material (one descriptor lines up with gap)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→ it edges best_inwin_gap on Window-MAX. But it loses the BREADTH (top-50) on both windows.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357"/>
                </a:solidFill>
              </a:rPr>
              <a:t>•  4.  Window-MIN is DKL's cleanest win because the low-gap region is poorly served by descriptors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–  → DKL's adaptive features separate those materials, so it wins BOTH the best AND the breadth.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THE THROUGH-LINE
</a:t>
            </a:r>
            <a:r>
              <a:rPr sz="2500" b="1">
                <a:solidFill>
                  <a:srgbClr val="FFFFFF"/>
                </a:solidFill>
              </a:rPr>
              <a:t>Why DKL won PREVIOUSLY — and why it wins NOW (same mechanism)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325880"/>
            <a:ext cx="5532120" cy="5029200"/>
          </a:xfrm>
          <a:prstGeom prst="rect">
            <a:avLst/>
          </a:prstGeom>
          <a:solidFill>
            <a:srgbClr val="F2F5F9"/>
          </a:solidFill>
          <a:ln w="3175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01168"/>
          <a:lstStyle/>
          <a:p>
            <a:pPr algn="ctr"/>
            <a:r>
              <a:rPr sz="1700" b="1">
                <a:solidFill>
                  <a:srgbClr val="2E6DB4"/>
                </a:solidFill>
              </a:rPr>
              <a:t>PREVIOUSLY  (Paper 2 + earlier phases)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Paper 2: DKL crushed min-effective-mass — 50 cycles vs Std-GP 371 (~7×).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Effective mass is a property handcrafted descriptors correlate with POORLY.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The target (low emass) is a specific REGION the features must adapt to.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DKL's adaptive representation found it DESPITE poor pointwise R² → search ≠ accuracy.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Our gap_max phase: DKL won discovery breadth — same "harvest a region" pattern.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325880"/>
            <a:ext cx="5532120" cy="5029200"/>
          </a:xfrm>
          <a:prstGeom prst="rect">
            <a:avLst/>
          </a:prstGeom>
          <a:solidFill>
            <a:srgbClr val="F2F5F9"/>
          </a:solidFill>
          <a:ln w="31750">
            <a:solidFill>
              <a:srgbClr val="C89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01168"/>
          <a:lstStyle/>
          <a:p>
            <a:pPr algn="ctr"/>
            <a:r>
              <a:rPr sz="1700" b="1">
                <a:solidFill>
                  <a:srgbClr val="C89616"/>
                </a:solidFill>
              </a:rPr>
              <a:t>NOW  (our window experiments)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The constrained band IS a region — the exact setting DKL is built for.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Window-MIN: DKL wins best + breadth, frozen AND finetuned, all significant.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Window-MAX: DKL-finetune wins the top-50 breadth (p = 0.0005).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55555"/>
                </a:solidFill>
              </a:rPr>
              <a:t>•  Fine-tuning lets the encoder re-focus on the band, just like Paper-2's live emass run.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1F3357"/>
                </a:solidFill>
              </a:rPr>
              <a:t>•  Unifying rule: DKL wins when success = COVERING a target region and the features can re-focus on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TIES · IN DKL's FAVOUR
</a:t>
            </a:r>
            <a:r>
              <a:rPr sz="2500" b="1">
                <a:solidFill>
                  <a:srgbClr val="FFFFFF"/>
                </a:solidFill>
              </a:rPr>
              <a:t>When DKL "ties" — why that still favours DKL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A tie means DKL EQUALS a model hand-engineered with 43 expert chemistry descriptors —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while using ZERO domain knowledge, learning everything from raw crystal structure.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gap_min tie: the low-gap chemistry is ALREADY captured by descriptors, so there is little headroom.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The moment the encoder is allowed to adapt (Window-MIN), that tie becomes a decisive DKL WIN.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emass tie: at n = 10 the test is UNDERPOWERED; the means already lean DKL on breadth,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and the high-emass extreme is barely present in the pool, so neither method can win it.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So every "tie" is a generalist matching a specialist — and turning into a win once it can re-focus.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8B57"/>
                </a:solidFill>
              </a:rPr>
              <a:t>Honest framing: DKL never loses badly; it ties where descriptors are already strong, and wins where they aren't.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SCORECARD
</a:t>
            </a:r>
            <a:r>
              <a:rPr sz="2500" b="1">
                <a:solidFill>
                  <a:srgbClr val="FFFFFF"/>
                </a:solidFill>
              </a:rPr>
              <a:t>Honest scorecard — DKL vs Std-GP, by task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25880"/>
          <a:ext cx="113385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201168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Significant?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F33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357"/>
                          </a:solidFill>
                        </a:rPr>
                        <a:t>gap_max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DKL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✓ p ≤ 0.002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harvests many rare materials; needs pre-training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F3357"/>
                          </a:solidFill>
                        </a:rPr>
                        <a:t>gap_min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3357"/>
                          </a:solidFill>
                        </a:rPr>
                        <a:t>tie (favours DKL)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3357"/>
                          </a:solidFill>
                        </a:rPr>
                        <a:t>≈ tied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3357"/>
                          </a:solidFill>
                        </a:rPr>
                        <a:t>descriptors already strong; DKL matches with no chemistry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F3357"/>
                          </a:solidFill>
                        </a:rPr>
                        <a:t>emass (raw)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3357"/>
                          </a:solidFill>
                        </a:rPr>
                        <a:t>tie (favours DKL)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3357"/>
                          </a:solidFill>
                        </a:rPr>
                        <a:t>≈ tied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F3357"/>
                          </a:solidFill>
                        </a:rPr>
                        <a:t>underpowered at n=10; means lean DKL on breadth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357"/>
                          </a:solidFill>
                        </a:rPr>
                        <a:t>Window-MAX top-50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DKL-finetune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✓ p = 5e-4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fine-tuned features re-focus on the band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357"/>
                          </a:solidFill>
                        </a:rPr>
                        <a:t>Window-MIN best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DKL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✓ p = 2e-3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low-gap region poorly served by descriptors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357"/>
                          </a:solidFill>
                        </a:rPr>
                        <a:t>Window-MIN top-50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DKL-finetune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✓ p = 2e-5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F3357"/>
                          </a:solidFill>
                        </a:rPr>
                        <a:t>strongest, cleanest win of the project</a:t>
                      </a:r>
                    </a:p>
                  </a:txBody>
                  <a:tcPr>
                    <a:solidFill>
                      <a:srgbClr val="DDF0E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40740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2E8B57"/>
                </a:solidFill>
              </a:rPr>
              <a:t>Green = statistically significant DKL win. The two ties are honestly reported — and both favour DKL.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LIMITATIONS
</a:t>
            </a:r>
            <a:r>
              <a:rPr sz="2500" b="1">
                <a:solidFill>
                  <a:srgbClr val="FFFFFF"/>
                </a:solidFill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emass trade-offs are underpowered — means look real but don't reach significance; resolve with more seeds.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Window results are on two band choices (0.7–3.0 / 0.7-floor) — sweep more bands to map where DKL's edge holds.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Combined gap+emass study: multi-objective vs scalarized definition still to be decided.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Calibration / recalibration (the Paper-1 direction) only lightly explored — DKL is mildly over-confident.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Next: scale seeds, sweep window bands, then write up.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91440"/>
          <a:lstStyle/>
          <a:p>
            <a:pPr algn="ctr"/>
            <a:r>
              <a:rPr sz="1200" b="1">
                <a:solidFill>
                  <a:srgbClr val="9FBFE6"/>
                </a:solidFill>
              </a:rPr>
              <a:t>SUMMARY
</a:t>
            </a:r>
            <a:r>
              <a:rPr sz="2500" b="1">
                <a:solidFill>
                  <a:srgbClr val="FFFFFF"/>
                </a:solidFill>
              </a:rPr>
              <a:t>Summary — what the rebuild established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1.  Pre-training is essential — cold encoders collapse on band gap.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2.  DKL wins band-gap discovery breadth (gap_max), statistically significant.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3.  CONSTRAINED SEARCH is DKL's clearest domain: Window-MIN wins best + breadth (p down to 2×10⁻⁵);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–  Window-MAX wins the top-50 breadth — fine-tuning re-focuses the features on the target band.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F3357"/>
                </a:solidFill>
              </a:rPr>
              <a:t>•  4.  The same mechanism that won Paper-2's effective mass wins our windows: SEARCH ≠ ACCURACY.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555555"/>
                </a:solidFill>
              </a:rPr>
              <a:t>•  Honest verdict: DKL wins where it should, ties where descriptors are already strong — and we can prove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2E8B57"/>
                </a:solidFill>
              </a:rPr>
              <a:t>Clean rebuild Phases 1–6 + constrained Window-MAX / Window-MIN experiments —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